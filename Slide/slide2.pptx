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BD5E1"/>
                </a:solidFill>
                <a:latin typeface="Arial"/>
              </a:rPr>
              <a:t>Top 10 Municípios — CVLIs (2021–2023)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CVLI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Horizonte</c:v>
                  </c:pt>
                  <c:pt idx="1">
                    <c:v>Pacatuba</c:v>
                  </c:pt>
                  <c:pt idx="2">
                    <c:v>Maranguape</c:v>
                  </c:pt>
                  <c:pt idx="3">
                    <c:v>Aquiraz</c:v>
                  </c:pt>
                  <c:pt idx="4">
                    <c:v>Cascavel</c:v>
                  </c:pt>
                  <c:pt idx="5">
                    <c:v>Juazeiro do Norte</c:v>
                  </c:pt>
                  <c:pt idx="6">
                    <c:v>Sobral</c:v>
                  </c:pt>
                  <c:pt idx="7">
                    <c:v>Maracanaú</c:v>
                  </c:pt>
                  <c:pt idx="8">
                    <c:v>Caucaia</c:v>
                  </c:pt>
                  <c:pt idx="9">
                    <c:v>Fortaleza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137</c:v>
                </c:pt>
                <c:pt idx="1">
                  <c:v>142</c:v>
                </c:pt>
                <c:pt idx="2">
                  <c:v>155</c:v>
                </c:pt>
                <c:pt idx="3">
                  <c:v>182</c:v>
                </c:pt>
                <c:pt idx="4">
                  <c:v>168</c:v>
                </c:pt>
                <c:pt idx="5">
                  <c:v>222</c:v>
                </c:pt>
                <c:pt idx="6">
                  <c:v>245</c:v>
                </c:pt>
                <c:pt idx="7">
                  <c:v>410</c:v>
                </c:pt>
                <c:pt idx="8">
                  <c:v>691</c:v>
                </c:pt>
                <c:pt idx="9">
                  <c:v>2488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BD5E1"/>
                </a:solidFill>
                <a:latin typeface="Arial"/>
              </a:rPr>
              <a:t>Evolução Anual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CVLI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3299</c:v>
                </c:pt>
                <c:pt idx="1">
                  <c:v>2970</c:v>
                </c:pt>
                <c:pt idx="2">
                  <c:v>2970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CVP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48141</c:v>
                </c:pt>
                <c:pt idx="1">
                  <c:v>45930</c:v>
                </c:pt>
                <c:pt idx="2">
                  <c:v>42607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BD5E1"/>
                </a:solidFill>
                <a:latin typeface="Arial"/>
              </a:rPr>
              <a:t>Vítimas por Gênero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Não Informado</c:v>
                  </c:pt>
                  <c:pt idx="1">
                    <c:v>Feminino</c:v>
                  </c:pt>
                  <c:pt idx="2">
                    <c:v>Masculino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880</c:v>
                </c:pt>
                <c:pt idx="2">
                  <c:v>8288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BD5E1"/>
                </a:solidFill>
                <a:latin typeface="Arial"/>
              </a:rPr>
              <a:t>Vítimas por Raça/Cor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Amarela</c:v>
                  </c:pt>
                  <c:pt idx="1">
                    <c:v>Indígena</c:v>
                  </c:pt>
                  <c:pt idx="2">
                    <c:v>Preta</c:v>
                  </c:pt>
                  <c:pt idx="3">
                    <c:v>Branca</c:v>
                  </c:pt>
                  <c:pt idx="4">
                    <c:v>Parda</c:v>
                  </c:pt>
                  <c:pt idx="5">
                    <c:v>Não Informada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9</c:v>
                </c:pt>
                <c:pt idx="2">
                  <c:v>132</c:v>
                </c:pt>
                <c:pt idx="3">
                  <c:v>341</c:v>
                </c:pt>
                <c:pt idx="4">
                  <c:v>2185</c:v>
                </c:pt>
                <c:pt idx="5">
                  <c:v>6566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BD5E1"/>
                </a:solidFill>
                <a:latin typeface="Arial"/>
              </a:rPr>
              <a:t>Tipo de Crime por Ano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Hom. Doloso</c:v>
                  </c:pt>
                  <c:pt idx="1">
                    <c:v>Latrocínio</c:v>
                  </c:pt>
                  <c:pt idx="2">
                    <c:v>Feminicídio</c:v>
                  </c:pt>
                  <c:pt idx="3">
                    <c:v>Les. Corp. Seguida Morte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3202</c:v>
                </c:pt>
                <c:pt idx="1">
                  <c:v>43</c:v>
                </c:pt>
                <c:pt idx="2">
                  <c:v>31</c:v>
                </c:pt>
                <c:pt idx="3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Hom. Doloso</c:v>
                  </c:pt>
                  <c:pt idx="1">
                    <c:v>Latrocínio</c:v>
                  </c:pt>
                  <c:pt idx="2">
                    <c:v>Feminicídio</c:v>
                  </c:pt>
                  <c:pt idx="3">
                    <c:v>Les. Corp. Seguida Morte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2881</c:v>
                </c:pt>
                <c:pt idx="1">
                  <c:v>44</c:v>
                </c:pt>
                <c:pt idx="2">
                  <c:v>29</c:v>
                </c:pt>
                <c:pt idx="3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Hom. Doloso</c:v>
                  </c:pt>
                  <c:pt idx="1">
                    <c:v>Latrocínio</c:v>
                  </c:pt>
                  <c:pt idx="2">
                    <c:v>Feminicídio</c:v>
                  </c:pt>
                  <c:pt idx="3">
                    <c:v>Les. Corp. Seguida Morte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2893</c:v>
                </c:pt>
                <c:pt idx="1">
                  <c:v>24</c:v>
                </c:pt>
                <c:pt idx="2">
                  <c:v>42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BD5E1"/>
                </a:solidFill>
                <a:latin typeface="Arial"/>
              </a:rPr>
              <a:t>Meio Empregado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Arma de fogo</c:v>
                  </c:pt>
                  <c:pt idx="1">
                    <c:v>Arma branca</c:v>
                  </c:pt>
                  <c:pt idx="2">
                    <c:v>Outros meios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2842</c:v>
                </c:pt>
                <c:pt idx="1">
                  <c:v>269</c:v>
                </c:pt>
                <c:pt idx="2">
                  <c:v>188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Arma de fogo</c:v>
                  </c:pt>
                  <c:pt idx="1">
                    <c:v>Arma branca</c:v>
                  </c:pt>
                  <c:pt idx="2">
                    <c:v>Outros meios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2518</c:v>
                </c:pt>
                <c:pt idx="1">
                  <c:v>284</c:v>
                </c:pt>
                <c:pt idx="2">
                  <c:v>168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Arma de fogo</c:v>
                  </c:pt>
                  <c:pt idx="1">
                    <c:v>Arma branca</c:v>
                  </c:pt>
                  <c:pt idx="2">
                    <c:v>Outros meios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2553</c:v>
                </c:pt>
                <c:pt idx="1">
                  <c:v>245</c:v>
                </c:pt>
                <c:pt idx="2">
                  <c:v>172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BD5E1"/>
                </a:solidFill>
                <a:latin typeface="Arial"/>
              </a:rPr>
              <a:t>CVLIs por Mês (soma 2021–2023)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CVLI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809</c:v>
                </c:pt>
                <c:pt idx="1">
                  <c:v>777</c:v>
                </c:pt>
                <c:pt idx="2">
                  <c:v>703</c:v>
                </c:pt>
                <c:pt idx="3">
                  <c:v>736</c:v>
                </c:pt>
                <c:pt idx="4">
                  <c:v>742</c:v>
                </c:pt>
                <c:pt idx="5">
                  <c:v>700</c:v>
                </c:pt>
                <c:pt idx="6">
                  <c:v>762</c:v>
                </c:pt>
                <c:pt idx="7">
                  <c:v>786</c:v>
                </c:pt>
                <c:pt idx="8">
                  <c:v>791</c:v>
                </c:pt>
                <c:pt idx="9">
                  <c:v>840</c:v>
                </c:pt>
                <c:pt idx="10">
                  <c:v>807</c:v>
                </c:pt>
                <c:pt idx="11">
                  <c:v>786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BD5E1"/>
                </a:solidFill>
                <a:latin typeface="Arial"/>
              </a:rPr>
              <a:t>CVPs por Mês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CVP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12654</c:v>
                </c:pt>
                <c:pt idx="1">
                  <c:v>11523</c:v>
                </c:pt>
                <c:pt idx="2">
                  <c:v>11160</c:v>
                </c:pt>
                <c:pt idx="3">
                  <c:v>10952</c:v>
                </c:pt>
                <c:pt idx="4">
                  <c:v>11659</c:v>
                </c:pt>
                <c:pt idx="5">
                  <c:v>10850</c:v>
                </c:pt>
                <c:pt idx="6">
                  <c:v>11517</c:v>
                </c:pt>
                <c:pt idx="7">
                  <c:v>11784</c:v>
                </c:pt>
                <c:pt idx="8">
                  <c:v>11187</c:v>
                </c:pt>
                <c:pt idx="9">
                  <c:v>11423</c:v>
                </c:pt>
                <c:pt idx="10">
                  <c:v>11103</c:v>
                </c:pt>
                <c:pt idx="11">
                  <c:v>10866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64592" cy="1920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00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Criminalidade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22402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Ceará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SSPDS-CE  |  2021 – 2023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566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Análise de Dados  |  Entrega: 04/06/2026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4096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9.239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CVLIs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4096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136.678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4096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Intervenções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4096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1228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&amp; Fonte dos Dados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esse tema?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 detalhados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 direto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por município, crime, vítima e período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Ceará referência em transparência de segurança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investigadas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crimes acontecem mais?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 as vítimas?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situação está melhorando?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sazonalidade?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960120"/>
            <a:ext cx="4389120" cy="3794760"/>
          </a:xfrm>
          <a:prstGeom prst="roundRect">
            <a:avLst>
              <a:gd name="adj" fmla="val 241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dos Dados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600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Órgão: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1600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SUPESP / SSPDS-CE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2103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e CSV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utilizadas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566160"/>
            <a:ext cx="4023360" cy="32004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575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cvli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3575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9.239 registros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959352"/>
            <a:ext cx="4023360" cy="32004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68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968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136.678 registros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352544"/>
            <a:ext cx="4023360" cy="32004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361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intervencao_policial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361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 registros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783080" y="21488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058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dos dados públicos no portal SSPDS-CE. Separação por ano via script Python.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11680" y="9144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058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1993392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tabelas no PostgreSQL com colunas geradas automaticamente (ano, mês). Índices para performance.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21488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49040" y="9144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0058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1993392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TRIM(), padronização de gênero, preenchimento de NULLs, remoção de linhas inválidas.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21488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0" y="9144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00584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1993392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consultas SQL com JOINs, agregações e window functions. Insights sobre crime, vítimas e sazonalidade.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9144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26680" y="10058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1993392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interativo em Python (Plotly/Dash) e Power BI conectado ao PostgreSQL.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utilizadas: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1148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1148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737360" y="41148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41148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41148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1148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1148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1148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Plotly/Dash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41148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41148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89520" y="41148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41148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Crimes Acontecem?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822960"/>
          <a:ext cx="5029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486400" y="822960"/>
          <a:ext cx="33832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486400" y="2880360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486400" y="2944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–10%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486400" y="3337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CVLI 2021→2023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629400" y="2880360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629400" y="2944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–11,5%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629400" y="3337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 2021→2023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772400" y="2880360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0" y="2944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772400" y="3337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vs 2º lugar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das Vítimas de CVLI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8229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822960"/>
          <a:ext cx="4297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274320" y="3291840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3319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Feminicídio aumentou em 2023 (42 casos) — maior valor do triênio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274320" y="3840480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3867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90,5% das vítimas são do sexo masculino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4320" y="4389120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4416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64% dos casos sem raça informada — limitação dos dados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 Por Quê os Crimes Acontecem?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82296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486400" y="82296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274320" y="374904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3840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🔫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058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de fogo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0584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por mais de 86% dos CVLIs nos três anos — reforça a necessidade de políticas de desarmamento como estratégia central.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— Quando os Crimes Acontecem?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82296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394960" y="822960"/>
          <a:ext cx="3474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274320" y="34747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27432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CVLI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274320" y="3858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Outubro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27432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 casos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50592" y="34747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450592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CVLI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450592" y="3858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450592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casos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26864" y="34747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26864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CVP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626864" y="3858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26864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12.654 casos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803136" y="34747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803136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803136" y="3858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803136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grande sazonalidade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de Queda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CVLIs –10% e CVPs –11,5% entre 2021 e 2023, sugerindo avanço das políticas de segurança pública do estado.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Feminicídio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Aumentou em 2023 (42 casos) — maior valor do triênio. Exige políticas específicas de proteção à mulher.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56616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Geográfica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Metropolitana de Fortaleza concentra a maior parte dos crimes. Fortaleza responde por mais de 3x o 2º colocado.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1005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das Vítimas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13716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90,5% masculino. Entre os casos informados, pardos e pretos são maioria — dado essencial para políticas com recorte racial.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🔫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03520" y="2331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de Fogo Dominante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26974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por +86% dos CVLIs. Desarmamento é estratégia central e inegociável para redução da violência letal.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164592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91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2423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Perguntas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3017520"/>
            <a:ext cx="84124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</a:t>
            </a:r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github.com/seu-usuario/iad-criminalidade-ce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sspds.ce.gov.br  |  Período: 2021–2023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9.239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CVLIs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136.678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Criminalidade no Ceará — IAD</dc:title>
  <dc:subject>PptxGenJS Presentation</dc:subject>
  <dc:creator>PptxGenJS</dc:creator>
  <cp:lastModifiedBy>PptxGenJS</cp:lastModifiedBy>
  <cp:revision>1</cp:revision>
  <dcterms:created xsi:type="dcterms:W3CDTF">2026-06-17T22:31:27Z</dcterms:created>
  <dcterms:modified xsi:type="dcterms:W3CDTF">2026-06-17T22:31:27Z</dcterms:modified>
</cp:coreProperties>
</file>